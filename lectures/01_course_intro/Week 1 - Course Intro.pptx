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309" r:id="rId2"/>
    <p:sldId id="434" r:id="rId3"/>
    <p:sldId id="443" r:id="rId4"/>
    <p:sldId id="444" r:id="rId5"/>
    <p:sldId id="445" r:id="rId6"/>
    <p:sldId id="446" r:id="rId7"/>
    <p:sldId id="447" r:id="rId8"/>
    <p:sldId id="448" r:id="rId9"/>
    <p:sldId id="449" r:id="rId10"/>
    <p:sldId id="450" r:id="rId11"/>
    <p:sldId id="451" r:id="rId12"/>
    <p:sldId id="452" r:id="rId13"/>
    <p:sldId id="453" r:id="rId14"/>
    <p:sldId id="454" r:id="rId15"/>
    <p:sldId id="455" r:id="rId16"/>
    <p:sldId id="456" r:id="rId17"/>
    <p:sldId id="457" r:id="rId18"/>
    <p:sldId id="458" r:id="rId19"/>
    <p:sldId id="459" r:id="rId20"/>
    <p:sldId id="460" r:id="rId21"/>
    <p:sldId id="462" r:id="rId22"/>
    <p:sldId id="464" r:id="rId23"/>
    <p:sldId id="465" r:id="rId24"/>
    <p:sldId id="466" r:id="rId25"/>
    <p:sldId id="467" r:id="rId26"/>
    <p:sldId id="468" r:id="rId27"/>
    <p:sldId id="469" r:id="rId28"/>
    <p:sldId id="470" r:id="rId29"/>
    <p:sldId id="471" r:id="rId30"/>
    <p:sldId id="472" r:id="rId31"/>
    <p:sldId id="473" r:id="rId32"/>
    <p:sldId id="474" r:id="rId33"/>
    <p:sldId id="475" r:id="rId34"/>
    <p:sldId id="463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D62080-29F1-5B49-A51C-ED8FD9C89C89}" v="36" dt="2026-08-13T20:25:57.0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76"/>
    <p:restoredTop sz="94637"/>
  </p:normalViewPr>
  <p:slideViewPr>
    <p:cSldViewPr snapToGrid="0">
      <p:cViewPr varScale="1">
        <p:scale>
          <a:sx n="195" d="100"/>
          <a:sy n="195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C8263D-7966-0744-8A35-BEB6E6BF2C9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1EDF-8AE7-D64C-94B4-738E14CB9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55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22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58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141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369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99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6766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33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833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4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97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199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95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54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0329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912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292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561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42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4710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8651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8413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1418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8446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2660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7374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6338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0751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7627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759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1149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8403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532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2295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F397-2A2E-5243-9C89-299CAB27239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17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7E6C3-CF71-C851-4EAE-B813E5BDA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48E762-598B-1AE5-09A9-E922F7988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4519D-0F99-52D2-CED0-734CC8E62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8F053-975A-9848-A44D-450C10B276F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C909A-6A9C-E744-CF29-4B80DF374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026C2-DD49-C7D9-2F65-2CF7CB2F5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D1499-3ACF-2443-99FD-24C758807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13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FD1C8-A4CA-5FD8-BFA7-CCD79CF7E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BEDB1-397C-72A3-E822-30584D928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F8249-FF0E-F6FB-561C-BD86CB2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8F053-975A-9848-A44D-450C10B276F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2BA14-B999-D082-227B-3D8640133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9F5EB-3C10-CA56-4E1F-B978382E1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D1499-3ACF-2443-99FD-24C758807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944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F5430-9A79-4F5A-4626-6B7A54613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FD52C-06DA-BF6F-809C-741476DB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459DB-63CC-9A26-BF05-E2460C157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8F053-975A-9848-A44D-450C10B276F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28FA8-C607-18CD-3DC8-08D43AF0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9F720-02EB-7FCE-3AF4-4BC43846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D1499-3ACF-2443-99FD-24C758807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42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7C335-022E-AA33-94BE-893328F7A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A12F1-9A62-2191-792E-1A04C969AA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A2742B-388F-F67A-FD81-687A696A8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7485D-E304-AD9B-891B-B3E75756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8F053-975A-9848-A44D-450C10B276F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FE82D-89F9-BCDE-A0CF-62D68BF4F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F6761-6B30-5199-7A02-82211E62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D1499-3ACF-2443-99FD-24C758807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106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39160-31E3-631F-1FFE-57CA2F831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39CCE-DBE3-BF74-BA58-8CAEB8B15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AEFEE-6936-A602-9FD9-A41655B8B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AB5BE4-6D3E-C616-9643-58AE915B45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B60FF1-19BB-6CCF-ED72-434E690FAD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2A5631-99A9-8D2D-37DA-1541AD86F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8F053-975A-9848-A44D-450C10B276F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EB2F30-F1C2-A65D-F0B4-06A211270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C5AE3A-8F4B-16F7-5F9F-CFEE289D2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D1499-3ACF-2443-99FD-24C758807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899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BD663-FD57-0F90-3DEC-DA36E86DC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44EA32-FCFD-3407-8810-926EFB438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8F053-975A-9848-A44D-450C10B276F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0AA73F-A2BD-9EA6-DADD-98FD3DAAF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2914D3-5E09-3476-F828-6D33995C9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D1499-3ACF-2443-99FD-24C758807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71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70DFA6-AEC8-EBE2-AAC9-FC03990D8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8F053-975A-9848-A44D-450C10B276F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6E6070-EA0A-4B74-C077-6397D606B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13708-C44C-29C4-9D69-96091755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D1499-3ACF-2443-99FD-24C758807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573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CE87-8BD2-D5AB-1EE2-E18A001A4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9A958-A5EC-13CE-06E9-7E46924D4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9E6460-EF53-8AB2-7344-04994DCA2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35297-2BF5-4BFA-75F7-B989AE17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8F053-975A-9848-A44D-450C10B276F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B1BAA2-35FC-1345-1403-40DC7F73D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AC7E39-62AB-B744-3444-EE4ECCFE1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D1499-3ACF-2443-99FD-24C758807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79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7A6D1-82B4-5FA8-4586-E2B4788F4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CB13BE-B6B5-94EC-00B8-37C82C3D6D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D916A-4940-F0E1-A53C-F0EC09D4E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A290D-1E97-8674-CF63-93FE759F2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8F053-975A-9848-A44D-450C10B276F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415E1-1077-B0F0-C1C9-2DBA0BF47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B5084-3C26-02B2-D444-C447F4C1D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D1499-3ACF-2443-99FD-24C758807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432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B7E85-F3B3-9E38-5107-403A9224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B37AED-A971-4C47-BEA9-28DA990D2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15EC5-A1BC-EAEF-54CC-0749A9F1D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8F053-975A-9848-A44D-450C10B276F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EB9B8-B8C0-1EDA-2010-B899E32B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C036F-D482-4582-C3BB-B7E336CAA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D1499-3ACF-2443-99FD-24C758807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38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6417DB-55E3-9F43-6F18-86F07A035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7D02E6-F73E-72AC-68D4-21E50E8AE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52379-A0EE-0323-CF08-AD5F2A3B4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8F053-975A-9848-A44D-450C10B276F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5E1EE-E287-3D4A-D990-2A8231CE2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7CE7B-7A0A-82BD-CFA2-F66C5CBC4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D1499-3ACF-2443-99FD-24C758807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43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A0683B-E592-DFED-0AA1-1A46FCABD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9323C-C884-B6B6-B30F-60C20C854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C78CD-A6CA-5D59-3092-8A34DE878F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98F053-975A-9848-A44D-450C10B276F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14F67-A617-20F1-0A50-ABF1991C6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AE0E5-AED0-A535-4C3F-419A3C086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5D1499-3ACF-2443-99FD-24C758807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81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cfair13@uga.edu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light&#10;&#10;Description automatically generated">
            <a:extLst>
              <a:ext uri="{FF2B5EF4-FFF2-40B4-BE49-F238E27FC236}">
                <a16:creationId xmlns:a16="http://schemas.microsoft.com/office/drawing/2014/main" id="{81AD2C13-C370-7711-9F14-3A3A9B4D16E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BA0C2F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-18086" y="-13496"/>
            <a:ext cx="12228173" cy="688499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6BB2208-1D3E-AE46-8761-DBCD7C9C9DFF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30AA38EB-216E-7363-4BA0-A1417F0399A6}"/>
              </a:ext>
            </a:extLst>
          </p:cNvPr>
          <p:cNvPicPr>
            <a:picLocks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152400" y="139751"/>
            <a:ext cx="11872468" cy="6551271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DE0D445-5C25-4340-A412-34CAA3236F02}"/>
              </a:ext>
            </a:extLst>
          </p:cNvPr>
          <p:cNvSpPr txBox="1">
            <a:spLocks/>
          </p:cNvSpPr>
          <p:nvPr/>
        </p:nvSpPr>
        <p:spPr>
          <a:xfrm>
            <a:off x="2209800" y="3378310"/>
            <a:ext cx="7772400" cy="164592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62500" lnSpcReduction="20000"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chemeClr val="tx1"/>
                </a:solidFill>
                <a:latin typeface="+mj-lt"/>
              </a:rPr>
              <a:t>Dr. Conor Fair</a:t>
            </a:r>
          </a:p>
          <a:p>
            <a:r>
              <a:rPr lang="en-US" sz="4000" b="1" dirty="0">
                <a:solidFill>
                  <a:schemeClr val="tx1"/>
                </a:solidFill>
                <a:latin typeface="+mj-lt"/>
              </a:rPr>
              <a:t>Fall 2026</a:t>
            </a:r>
          </a:p>
          <a:p>
            <a:r>
              <a:rPr lang="en-US" sz="4000" b="1" dirty="0">
                <a:solidFill>
                  <a:schemeClr val="tx1"/>
                </a:solidFill>
                <a:latin typeface="+mj-lt"/>
              </a:rPr>
              <a:t>MW 1:15 - 2:35</a:t>
            </a:r>
          </a:p>
          <a:p>
            <a:r>
              <a:rPr lang="en-US" sz="4000" b="1" dirty="0">
                <a:solidFill>
                  <a:schemeClr val="tx1"/>
                </a:solidFill>
                <a:latin typeface="+mj-lt"/>
              </a:rPr>
              <a:t>Course Introduction, </a:t>
            </a:r>
          </a:p>
          <a:p>
            <a:r>
              <a:rPr lang="en-US" sz="4000" b="1" dirty="0">
                <a:solidFill>
                  <a:schemeClr val="tx1"/>
                </a:solidFill>
                <a:latin typeface="+mj-lt"/>
              </a:rPr>
              <a:t>Types of Data, and Basics of R/RStudio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6A27370-2DA7-C44A-8B7F-FCD74183CCE5}"/>
              </a:ext>
            </a:extLst>
          </p:cNvPr>
          <p:cNvSpPr txBox="1">
            <a:spLocks/>
          </p:cNvSpPr>
          <p:nvPr/>
        </p:nvSpPr>
        <p:spPr>
          <a:xfrm>
            <a:off x="152400" y="424188"/>
            <a:ext cx="11887200" cy="21945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400" b="1" kern="0" dirty="0"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</a:rPr>
              <a:t>ENTO 8030: Advanced Quantitative Analysis in Entomological Science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D82934F-F164-6EC2-C00C-C153CE39E140}"/>
              </a:ext>
            </a:extLst>
          </p:cNvPr>
          <p:cNvCxnSpPr>
            <a:cxnSpLocks/>
          </p:cNvCxnSpPr>
          <p:nvPr/>
        </p:nvCxnSpPr>
        <p:spPr>
          <a:xfrm>
            <a:off x="2438400" y="2998529"/>
            <a:ext cx="731520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3F248CE-145F-E43F-EA1B-6D34816E18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5734" y="5225319"/>
            <a:ext cx="5487231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311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2</a:t>
            </a:fld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D3130857-9233-4B96-4AEC-0B8EF4EF1130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539496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Introductions: Conor Fair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47C586-B90F-3B24-66CB-D01BF7983F6F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475488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28022"/>
            <a:ext cx="8936825" cy="52821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82880">
              <a:lnSpc>
                <a:spcPct val="120000"/>
              </a:lnSpc>
              <a:buSzPct val="100000"/>
            </a:pPr>
            <a:r>
              <a:rPr lang="en-US" sz="2400" dirty="0">
                <a:solidFill>
                  <a:schemeClr val="tx1"/>
                </a:solidFill>
                <a:cs typeface="Arial" panose="020B0604020202020204" pitchFamily="34" charset="0"/>
              </a:rPr>
              <a:t>BA – Simpson College ’13</a:t>
            </a:r>
          </a:p>
          <a:p>
            <a:pPr marL="560070" lvl="1" indent="-285750" defTabSz="18288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Biostatistics</a:t>
            </a:r>
          </a:p>
          <a:p>
            <a:pPr defTabSz="182880">
              <a:lnSpc>
                <a:spcPct val="120000"/>
              </a:lnSpc>
              <a:buSzPct val="100000"/>
            </a:pPr>
            <a:r>
              <a:rPr lang="en-US" sz="2400" dirty="0">
                <a:solidFill>
                  <a:schemeClr val="tx1"/>
                </a:solidFill>
                <a:cs typeface="Arial" panose="020B0604020202020204" pitchFamily="34" charset="0"/>
              </a:rPr>
              <a:t>MS – UGA Entomology ’15</a:t>
            </a:r>
          </a:p>
          <a:p>
            <a:pPr marL="560070" lvl="1" indent="-285750" defTabSz="18288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FANR 6750 Exp. Methods in Forestry &amp; Natural Resources</a:t>
            </a:r>
          </a:p>
          <a:p>
            <a:pPr defTabSz="182880">
              <a:lnSpc>
                <a:spcPct val="120000"/>
              </a:lnSpc>
              <a:buSzPct val="100000"/>
            </a:pPr>
            <a:r>
              <a:rPr lang="en-US" sz="2400" dirty="0">
                <a:solidFill>
                  <a:schemeClr val="tx1"/>
                </a:solidFill>
                <a:cs typeface="Arial" panose="020B0604020202020204" pitchFamily="34" charset="0"/>
              </a:rPr>
              <a:t>PhD. – UGA Entomology ’21</a:t>
            </a:r>
          </a:p>
          <a:p>
            <a:pPr marL="560070" lvl="1" indent="-285750" defTabSz="18288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STAT 6220 Intro Stats II</a:t>
            </a:r>
          </a:p>
          <a:p>
            <a:pPr marL="560070" lvl="1" indent="-285750" defTabSz="18288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FANR 7620 GIS Applications for Natural Resources</a:t>
            </a:r>
          </a:p>
          <a:p>
            <a:pPr marL="560070" lvl="1" indent="-285750" defTabSz="18288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FISH 8360 Quantitative Conservation Sciences</a:t>
            </a:r>
          </a:p>
          <a:p>
            <a:pPr marL="560070" lvl="1" indent="-285750" defTabSz="18288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POLS 8501 Advanced Quantitative Methods</a:t>
            </a:r>
          </a:p>
          <a:p>
            <a:pPr marL="560070" lvl="1" indent="-285750" defTabSz="18288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STAT 8200 Experimental Design</a:t>
            </a:r>
          </a:p>
          <a:p>
            <a:pPr marL="560070" lvl="1" indent="-285750" defTabSz="18288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POLS 8500 Time Series Analysis</a:t>
            </a:r>
          </a:p>
          <a:p>
            <a:pPr defTabSz="182880">
              <a:lnSpc>
                <a:spcPct val="120000"/>
              </a:lnSpc>
              <a:buSzPct val="100000"/>
            </a:pPr>
            <a:r>
              <a:rPr lang="en-US" sz="2400" dirty="0" err="1">
                <a:solidFill>
                  <a:schemeClr val="tx1"/>
                </a:solidFill>
                <a:cs typeface="Arial" panose="020B0604020202020204" pitchFamily="34" charset="0"/>
              </a:rPr>
              <a:t>PostDoc</a:t>
            </a:r>
            <a:r>
              <a:rPr lang="en-US" sz="2400" dirty="0">
                <a:solidFill>
                  <a:schemeClr val="tx1"/>
                </a:solidFill>
                <a:cs typeface="Arial" panose="020B0604020202020204" pitchFamily="34" charset="0"/>
              </a:rPr>
              <a:t> – UGA Entomology ‘22 &amp; ‘23</a:t>
            </a:r>
          </a:p>
          <a:p>
            <a:pPr marL="560070" lvl="1" indent="-285750" defTabSz="182880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Taught special topics course in statistics</a:t>
            </a:r>
          </a:p>
        </p:txBody>
      </p:sp>
      <p:pic>
        <p:nvPicPr>
          <p:cNvPr id="2" name="Picture 1" descr="A person holding a dog&#10;&#10;Description automatically generated">
            <a:extLst>
              <a:ext uri="{FF2B5EF4-FFF2-40B4-BE49-F238E27FC236}">
                <a16:creationId xmlns:a16="http://schemas.microsoft.com/office/drawing/2014/main" id="{D9480DD1-3020-B21D-74DA-EEF22B6A46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71" r="19111"/>
          <a:stretch/>
        </p:blipFill>
        <p:spPr>
          <a:xfrm rot="5400000">
            <a:off x="7263935" y="910861"/>
            <a:ext cx="4721627" cy="455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731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49043"/>
            <a:ext cx="11064240" cy="46004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Method of instruction (virtual attendance across campuses)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Synchronous lectures M/W and discussion sections M/W/F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Communicating with the instructor (</a:t>
            </a:r>
            <a:r>
              <a:rPr lang="en-US" sz="2400" dirty="0">
                <a:cs typeface="Arial" panose="020B0604020202020204" pitchFamily="34" charset="0"/>
                <a:hlinkClick r:id="rId4"/>
              </a:rPr>
              <a:t>cfair13@uga.edu</a:t>
            </a:r>
            <a:r>
              <a:rPr lang="en-US" sz="2400" dirty="0">
                <a:cs typeface="Arial" panose="020B0604020202020204" pitchFamily="34" charset="0"/>
              </a:rPr>
              <a:t> and </a:t>
            </a:r>
            <a:r>
              <a:rPr lang="en-US" sz="2400" dirty="0" err="1">
                <a:cs typeface="Arial" panose="020B0604020202020204" pitchFamily="34" charset="0"/>
              </a:rPr>
              <a:t>elc</a:t>
            </a:r>
            <a:r>
              <a:rPr lang="en-US" sz="2400" dirty="0">
                <a:cs typeface="Arial" panose="020B0604020202020204" pitchFamily="34" charset="0"/>
              </a:rPr>
              <a:t>)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Make-Up and late work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Flexible deadlines at the discretion of instructor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Resources for students (Disability Resources Center, Student Care &amp; Outreach)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UGA’s Academic Honest Pledge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Statement on use of Generative AI tools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21B146-72BB-812C-13C3-5F3EE0E56D04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630936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General Syllabus Information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820705-7235-AB13-4E27-B15855846F06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557784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811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4</a:t>
            </a:fld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D3130857-9233-4B96-4AEC-0B8EF4EF1130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71323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General Content in Stats Courses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47C586-B90F-3B24-66CB-D01BF7983F6F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649224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49043"/>
            <a:ext cx="10880576" cy="46004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Statistical theory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How to perform and recognize appropriate statistical tests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Using statistical software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Most variable task depending on software and difficulty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Research methods and experimental design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How to collect data and properly design experiments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Communicating statistics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Writing manuscripts and conference presentations</a:t>
            </a:r>
          </a:p>
        </p:txBody>
      </p:sp>
    </p:spTree>
    <p:extLst>
      <p:ext uri="{BB962C8B-B14F-4D97-AF65-F5344CB8AC3E}">
        <p14:creationId xmlns:p14="http://schemas.microsoft.com/office/powerpoint/2010/main" val="1710085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5</a:t>
            </a:fld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D3130857-9233-4B96-4AEC-0B8EF4EF1130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43891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Learning Objectives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47C586-B90F-3B24-66CB-D01BF7983F6F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374904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62748"/>
            <a:ext cx="6771031" cy="40138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Functions, syntax, and file types in R/RStudio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Modify example code for your analyses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Statistical analyses with various data sets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Match analysis to experimental design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Publication quality data visualizations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Defend/Explain data analysis and results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Value and practice reproducible science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F4FC0C-12C0-DCBF-829A-13D4ABD408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40" t="772" r="567" b="680"/>
          <a:stretch/>
        </p:blipFill>
        <p:spPr>
          <a:xfrm>
            <a:off x="6883579" y="1728981"/>
            <a:ext cx="5016500" cy="339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81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6</a:t>
            </a:fld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D3130857-9233-4B96-4AEC-0B8EF4EF1130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43891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Structure of Course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47C586-B90F-3B24-66CB-D01BF7983F6F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374904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1049386"/>
            <a:ext cx="11302113" cy="2702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Lectures (theory) cover statistics, experimental design, data management, etc.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Discussion (applied) sessions review practice problems and coding skills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Semester is broken into two sections</a:t>
            </a:r>
          </a:p>
          <a:p>
            <a:pPr marL="640080" lvl="1" indent="-457200" defTabSz="182880">
              <a:lnSpc>
                <a:spcPct val="120000"/>
              </a:lnSpc>
              <a:spcBef>
                <a:spcPts val="1000"/>
              </a:spcBef>
              <a:buSzPct val="100000"/>
              <a:buFont typeface="+mj-lt"/>
              <a:buAutoNum type="arabicPeriod"/>
            </a:pPr>
            <a:r>
              <a:rPr lang="en-US" sz="2400" dirty="0">
                <a:cs typeface="Arial" panose="020B0604020202020204" pitchFamily="34" charset="0"/>
              </a:rPr>
              <a:t>General R usage, basic statistics</a:t>
            </a:r>
          </a:p>
          <a:p>
            <a:pPr marL="640080" lvl="1" indent="-457200" defTabSz="182880">
              <a:lnSpc>
                <a:spcPct val="120000"/>
              </a:lnSpc>
              <a:spcBef>
                <a:spcPts val="1000"/>
              </a:spcBef>
              <a:buSzPct val="100000"/>
              <a:buFont typeface="+mj-lt"/>
              <a:buAutoNum type="arabicPeriod"/>
            </a:pPr>
            <a:r>
              <a:rPr lang="en-US" sz="2400" dirty="0">
                <a:cs typeface="Arial" panose="020B0604020202020204" pitchFamily="34" charset="0"/>
              </a:rPr>
              <a:t>Moderate statistics and Advanced topics chosen by students (see link on </a:t>
            </a:r>
            <a:r>
              <a:rPr lang="en-US" sz="2400" dirty="0" err="1">
                <a:cs typeface="Arial" panose="020B0604020202020204" pitchFamily="34" charset="0"/>
              </a:rPr>
              <a:t>eLC</a:t>
            </a:r>
            <a:r>
              <a:rPr lang="en-US" sz="2400" dirty="0"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17357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7</a:t>
            </a:fld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D3130857-9233-4B96-4AEC-0B8EF4EF1130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30175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Prerequisites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47C586-B90F-3B24-66CB-D01BF7983F6F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237744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21123"/>
            <a:ext cx="11302113" cy="52214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No specific prerequisites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Prior graduate-level course/experience recommended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FANR 6750: Experimental Methods in Forestry &amp; Natural Resources Research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PBIO 8250: Experimental Design and Analysis in Field Plant Biology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CRSS 8010: Research Methods and Design for Crop Science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BIOS 7001: Foundations of Biostatistics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STAT 6210, 6220, 6310, 6315, 6320: Various stats courses for non-majors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Others???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Should have prior experience working with R/RStudio</a:t>
            </a:r>
          </a:p>
        </p:txBody>
      </p:sp>
    </p:spTree>
    <p:extLst>
      <p:ext uri="{BB962C8B-B14F-4D97-AF65-F5344CB8AC3E}">
        <p14:creationId xmlns:p14="http://schemas.microsoft.com/office/powerpoint/2010/main" val="3018091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8</a:t>
            </a:fld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D3130857-9233-4B96-4AEC-0B8EF4EF1130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420624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Required Materials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47C586-B90F-3B24-66CB-D01BF7983F6F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356616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21123"/>
            <a:ext cx="11302113" cy="52214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Computer with R/RStudio software installed 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cs typeface="Arial" panose="020B0604020202020204" pitchFamily="34" charset="0"/>
              </a:rPr>
              <a:t>No</a:t>
            </a:r>
            <a:r>
              <a:rPr lang="en-US" sz="2400" dirty="0">
                <a:cs typeface="Arial" panose="020B0604020202020204" pitchFamily="34" charset="0"/>
              </a:rPr>
              <a:t> </a:t>
            </a:r>
            <a:r>
              <a:rPr lang="en-US" sz="2400" b="1" dirty="0">
                <a:cs typeface="Arial" panose="020B0604020202020204" pitchFamily="34" charset="0"/>
              </a:rPr>
              <a:t>required textbook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Beckerman et al. 2017: Getting started with R: An Introduction for Biologists</a:t>
            </a:r>
          </a:p>
          <a:p>
            <a:pPr marL="1440180" lvl="3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Good introductory materials and examples</a:t>
            </a:r>
          </a:p>
          <a:p>
            <a:pPr marL="1440180" lvl="3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Free electronic copy through UGA library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 err="1">
                <a:cs typeface="Arial" panose="020B0604020202020204" pitchFamily="34" charset="0"/>
              </a:rPr>
              <a:t>Bolker</a:t>
            </a:r>
            <a:r>
              <a:rPr lang="en-US" sz="2400" dirty="0">
                <a:cs typeface="Arial" panose="020B0604020202020204" pitchFamily="34" charset="0"/>
              </a:rPr>
              <a:t> 2008: Ecological Models and Data in R</a:t>
            </a:r>
          </a:p>
          <a:p>
            <a:pPr marL="1440180" lvl="3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More theoretical discussions of topics (good reference)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Hadley et al. 2017: R for Data Science</a:t>
            </a:r>
          </a:p>
          <a:p>
            <a:pPr marL="1440180" lvl="3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Free online</a:t>
            </a:r>
          </a:p>
        </p:txBody>
      </p:sp>
    </p:spTree>
    <p:extLst>
      <p:ext uri="{BB962C8B-B14F-4D97-AF65-F5344CB8AC3E}">
        <p14:creationId xmlns:p14="http://schemas.microsoft.com/office/powerpoint/2010/main" val="3399128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9</a:t>
            </a:fld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D3130857-9233-4B96-4AEC-0B8EF4EF1130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457200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Course Assignments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47C586-B90F-3B24-66CB-D01BF7983F6F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393192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14143"/>
            <a:ext cx="11302113" cy="40976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Package Report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Learn how to use help files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AI-Assisted Statistical Analysis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Importance of drafting clear and detailed prompts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Student Presentations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Practice presenting your data analysis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Exams – two with cumulative material covered</a:t>
            </a:r>
          </a:p>
        </p:txBody>
      </p:sp>
    </p:spTree>
    <p:extLst>
      <p:ext uri="{BB962C8B-B14F-4D97-AF65-F5344CB8AC3E}">
        <p14:creationId xmlns:p14="http://schemas.microsoft.com/office/powerpoint/2010/main" val="3257598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10</a:t>
            </a:fld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D3130857-9233-4B96-4AEC-0B8EF4EF1130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539496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Participation and Grades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47C586-B90F-3B24-66CB-D01BF7983F6F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475488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07163"/>
            <a:ext cx="11302113" cy="24153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“</a:t>
            </a:r>
            <a:r>
              <a:rPr lang="en-US" sz="2400" dirty="0" err="1">
                <a:cs typeface="Arial" panose="020B0604020202020204" pitchFamily="34" charset="0"/>
              </a:rPr>
              <a:t>Ungrading</a:t>
            </a:r>
            <a:r>
              <a:rPr lang="en-US" sz="2400" dirty="0">
                <a:cs typeface="Arial" panose="020B0604020202020204" pitchFamily="34" charset="0"/>
              </a:rPr>
              <a:t>” policy where you grade your progress toward developing your skills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Participation and attendance are encouraged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I know you have other responsibilities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Communicate when you’ll be absent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35847E8-7809-2DD4-0491-FD809DDF6827}"/>
              </a:ext>
            </a:extLst>
          </p:cNvPr>
          <p:cNvSpPr txBox="1">
            <a:spLocks/>
          </p:cNvSpPr>
          <p:nvPr/>
        </p:nvSpPr>
        <p:spPr>
          <a:xfrm>
            <a:off x="434086" y="3274046"/>
            <a:ext cx="7809474" cy="2936131"/>
          </a:xfrm>
          <a:prstGeom prst="rect">
            <a:avLst/>
          </a:prstGeom>
        </p:spPr>
        <p:txBody>
          <a:bodyPr vert="horz" lIns="91440" tIns="45720" rIns="91440" bIns="45720" numCol="2" spcCol="0" rtlCol="0">
            <a:normAutofit fontScale="47500" lnSpcReduction="20000"/>
          </a:bodyPr>
          <a:lstStyle>
            <a:lvl1pPr marL="274320" indent="-27432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6344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008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300" dirty="0">
                <a:cs typeface="Arial" panose="020B0604020202020204" pitchFamily="34" charset="0"/>
              </a:rPr>
              <a:t>Grading Scale</a:t>
            </a:r>
          </a:p>
          <a:p>
            <a:pPr marL="982980" lvl="2" indent="-342900" defTabSz="182880">
              <a:lnSpc>
                <a:spcPct val="140000"/>
              </a:lnSpc>
              <a:spcBef>
                <a:spcPts val="1000"/>
              </a:spcBef>
              <a:buSzPct val="100000"/>
            </a:pPr>
            <a:r>
              <a:rPr lang="en-US" sz="4300" dirty="0">
                <a:cs typeface="Arial" panose="020B0604020202020204" pitchFamily="34" charset="0"/>
              </a:rPr>
              <a:t>A 93-100 points</a:t>
            </a:r>
          </a:p>
          <a:p>
            <a:pPr marL="982980" lvl="2" indent="-342900" defTabSz="182880">
              <a:lnSpc>
                <a:spcPct val="140000"/>
              </a:lnSpc>
              <a:spcBef>
                <a:spcPts val="1000"/>
              </a:spcBef>
              <a:buSzPct val="100000"/>
            </a:pPr>
            <a:r>
              <a:rPr lang="en-US" sz="4300" dirty="0">
                <a:cs typeface="Arial" panose="020B0604020202020204" pitchFamily="34" charset="0"/>
              </a:rPr>
              <a:t>A- 90-92 points</a:t>
            </a:r>
          </a:p>
          <a:p>
            <a:pPr marL="982980" lvl="2" indent="-342900" defTabSz="182880">
              <a:lnSpc>
                <a:spcPct val="140000"/>
              </a:lnSpc>
              <a:spcBef>
                <a:spcPts val="1000"/>
              </a:spcBef>
              <a:buSzPct val="100000"/>
            </a:pPr>
            <a:r>
              <a:rPr lang="en-US" sz="4300" dirty="0">
                <a:cs typeface="Arial" panose="020B0604020202020204" pitchFamily="34" charset="0"/>
              </a:rPr>
              <a:t>B+ 87-89 points</a:t>
            </a:r>
          </a:p>
          <a:p>
            <a:pPr marL="982980" lvl="2" indent="-342900" defTabSz="182880">
              <a:lnSpc>
                <a:spcPct val="140000"/>
              </a:lnSpc>
              <a:spcBef>
                <a:spcPts val="1000"/>
              </a:spcBef>
              <a:buSzPct val="100000"/>
            </a:pPr>
            <a:r>
              <a:rPr lang="en-US" sz="4300" dirty="0">
                <a:cs typeface="Arial" panose="020B0604020202020204" pitchFamily="34" charset="0"/>
              </a:rPr>
              <a:t>B 83-86 points</a:t>
            </a:r>
          </a:p>
          <a:p>
            <a:pPr marL="982980" lvl="2" indent="-342900" defTabSz="182880">
              <a:lnSpc>
                <a:spcPct val="140000"/>
              </a:lnSpc>
              <a:spcBef>
                <a:spcPts val="1000"/>
              </a:spcBef>
              <a:buSzPct val="100000"/>
            </a:pPr>
            <a:r>
              <a:rPr lang="en-US" sz="4300" dirty="0">
                <a:cs typeface="Arial" panose="020B0604020202020204" pitchFamily="34" charset="0"/>
              </a:rPr>
              <a:t>B- 80-82 points</a:t>
            </a:r>
          </a:p>
          <a:p>
            <a:pPr marL="982980" lvl="2" indent="-342900" defTabSz="182880">
              <a:lnSpc>
                <a:spcPct val="140000"/>
              </a:lnSpc>
              <a:spcBef>
                <a:spcPts val="1000"/>
              </a:spcBef>
              <a:buSzPct val="100000"/>
            </a:pPr>
            <a:endParaRPr lang="en-US" sz="4300" dirty="0">
              <a:cs typeface="Arial" panose="020B0604020202020204" pitchFamily="34" charset="0"/>
            </a:endParaRPr>
          </a:p>
          <a:p>
            <a:pPr marL="982980" lvl="2" indent="-342900" defTabSz="182880">
              <a:lnSpc>
                <a:spcPct val="140000"/>
              </a:lnSpc>
              <a:spcBef>
                <a:spcPts val="1000"/>
              </a:spcBef>
              <a:buSzPct val="100000"/>
            </a:pPr>
            <a:r>
              <a:rPr lang="en-US" sz="4300" dirty="0">
                <a:cs typeface="Arial" panose="020B0604020202020204" pitchFamily="34" charset="0"/>
              </a:rPr>
              <a:t>C+ 77-79 points</a:t>
            </a:r>
          </a:p>
          <a:p>
            <a:pPr marL="982980" lvl="2" indent="-342900" defTabSz="182880">
              <a:lnSpc>
                <a:spcPct val="140000"/>
              </a:lnSpc>
              <a:spcBef>
                <a:spcPts val="1000"/>
              </a:spcBef>
              <a:buSzPct val="100000"/>
            </a:pPr>
            <a:r>
              <a:rPr lang="en-US" sz="4300" dirty="0">
                <a:cs typeface="Arial" panose="020B0604020202020204" pitchFamily="34" charset="0"/>
              </a:rPr>
              <a:t>C 73-76 points</a:t>
            </a:r>
          </a:p>
          <a:p>
            <a:pPr marL="982980" lvl="2" indent="-342900" defTabSz="182880">
              <a:lnSpc>
                <a:spcPct val="140000"/>
              </a:lnSpc>
              <a:spcBef>
                <a:spcPts val="1000"/>
              </a:spcBef>
              <a:buSzPct val="100000"/>
            </a:pPr>
            <a:r>
              <a:rPr lang="en-US" sz="4300" dirty="0">
                <a:cs typeface="Arial" panose="020B0604020202020204" pitchFamily="34" charset="0"/>
              </a:rPr>
              <a:t>C- 70-72 points</a:t>
            </a:r>
          </a:p>
          <a:p>
            <a:pPr marL="982980" lvl="2" indent="-342900" defTabSz="182880">
              <a:lnSpc>
                <a:spcPct val="140000"/>
              </a:lnSpc>
              <a:spcBef>
                <a:spcPts val="1000"/>
              </a:spcBef>
              <a:buSzPct val="100000"/>
            </a:pPr>
            <a:r>
              <a:rPr lang="en-US" sz="4300" dirty="0">
                <a:cs typeface="Arial" panose="020B0604020202020204" pitchFamily="34" charset="0"/>
              </a:rPr>
              <a:t>D 60-69 points</a:t>
            </a:r>
          </a:p>
          <a:p>
            <a:pPr marL="982980" lvl="2" indent="-342900" defTabSz="182880">
              <a:lnSpc>
                <a:spcPct val="140000"/>
              </a:lnSpc>
              <a:spcBef>
                <a:spcPts val="1000"/>
              </a:spcBef>
              <a:buSzPct val="100000"/>
            </a:pPr>
            <a:r>
              <a:rPr lang="en-US" sz="4300" dirty="0">
                <a:cs typeface="Arial" panose="020B0604020202020204" pitchFamily="34" charset="0"/>
              </a:rPr>
              <a:t>F Fewer than 60 points</a:t>
            </a:r>
          </a:p>
        </p:txBody>
      </p:sp>
    </p:spTree>
    <p:extLst>
      <p:ext uri="{BB962C8B-B14F-4D97-AF65-F5344CB8AC3E}">
        <p14:creationId xmlns:p14="http://schemas.microsoft.com/office/powerpoint/2010/main" val="111107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11</a:t>
            </a:fld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D3130857-9233-4B96-4AEC-0B8EF4EF1130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694944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Why Have You Taken This Class?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47C586-B90F-3B24-66CB-D01BF7983F6F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630936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14144"/>
            <a:ext cx="11302113" cy="18430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Think to yourself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Pair with your neighbor for a discussion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Share with the class</a:t>
            </a:r>
          </a:p>
        </p:txBody>
      </p:sp>
    </p:spTree>
    <p:extLst>
      <p:ext uri="{BB962C8B-B14F-4D97-AF65-F5344CB8AC3E}">
        <p14:creationId xmlns:p14="http://schemas.microsoft.com/office/powerpoint/2010/main" val="2829283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12</a:t>
            </a:fld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D3130857-9233-4B96-4AEC-0B8EF4EF1130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57607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Advanced Topics Selection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47C586-B90F-3B24-66CB-D01BF7983F6F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512064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28103"/>
            <a:ext cx="11302113" cy="52074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What topics have you heard of?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What topics might come up in your own research?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What topics do you want to learn about?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Meta-Analysis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Generalized Additive Models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Bayesian Statistics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Multi-Variate Analysis (NMDS, etc.)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Time-Series Analysis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Structural Equation (Latent Variable) Models</a:t>
            </a:r>
          </a:p>
        </p:txBody>
      </p:sp>
    </p:spTree>
    <p:extLst>
      <p:ext uri="{BB962C8B-B14F-4D97-AF65-F5344CB8AC3E}">
        <p14:creationId xmlns:p14="http://schemas.microsoft.com/office/powerpoint/2010/main" val="394946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13</a:t>
            </a:fld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D3130857-9233-4B96-4AEC-0B8EF4EF1130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30175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Types of Data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47C586-B90F-3B24-66CB-D01BF7983F6F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237744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14143"/>
            <a:ext cx="11302113" cy="7074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How would you categorize/describe different types of data?</a:t>
            </a:r>
          </a:p>
        </p:txBody>
      </p:sp>
    </p:spTree>
    <p:extLst>
      <p:ext uri="{BB962C8B-B14F-4D97-AF65-F5344CB8AC3E}">
        <p14:creationId xmlns:p14="http://schemas.microsoft.com/office/powerpoint/2010/main" val="3802012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14</a:t>
            </a:fld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D3130857-9233-4B96-4AEC-0B8EF4EF1130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30175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Types of Data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47C586-B90F-3B24-66CB-D01BF7983F6F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237744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14142"/>
            <a:ext cx="11302113" cy="53737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Dependent vs. Independent variable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Response vs. Manipulated variable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Y vs. X variable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What are some examples?</a:t>
            </a:r>
          </a:p>
          <a:p>
            <a:pPr marL="982980" lvl="2" indent="-342900" defTabSz="182880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Continuous</a:t>
            </a:r>
          </a:p>
          <a:p>
            <a:pPr marL="982980" lvl="2" indent="-342900" defTabSz="182880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Integer</a:t>
            </a:r>
          </a:p>
          <a:p>
            <a:pPr marL="982980" lvl="2" indent="-342900" defTabSz="182880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Ordinal</a:t>
            </a:r>
          </a:p>
          <a:p>
            <a:pPr marL="982980" lvl="2" indent="-342900" defTabSz="182880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Proportional</a:t>
            </a:r>
          </a:p>
          <a:p>
            <a:pPr marL="982980" lvl="2" indent="-342900" defTabSz="182880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Categorical (Nominal)</a:t>
            </a:r>
          </a:p>
          <a:p>
            <a:pPr marL="982980" lvl="2" indent="-342900" defTabSz="182880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Presence/Absence)</a:t>
            </a:r>
          </a:p>
        </p:txBody>
      </p:sp>
    </p:spTree>
    <p:extLst>
      <p:ext uri="{BB962C8B-B14F-4D97-AF65-F5344CB8AC3E}">
        <p14:creationId xmlns:p14="http://schemas.microsoft.com/office/powerpoint/2010/main" val="3877249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15</a:t>
            </a:fld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D3130857-9233-4B96-4AEC-0B8EF4EF1130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30175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Types of Data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47C586-B90F-3B24-66CB-D01BF7983F6F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237744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21123"/>
            <a:ext cx="11302113" cy="2380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Dependent vs. Independent variable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Response vs. Manipulated variable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Y vs. X variable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What are some examples?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E0EDC8B-6368-3D22-A581-F44D6BE339DF}"/>
              </a:ext>
            </a:extLst>
          </p:cNvPr>
          <p:cNvGrpSpPr/>
          <p:nvPr/>
        </p:nvGrpSpPr>
        <p:grpSpPr>
          <a:xfrm>
            <a:off x="276904" y="3795737"/>
            <a:ext cx="11638192" cy="1800742"/>
            <a:chOff x="357884" y="3795737"/>
            <a:chExt cx="11638192" cy="180074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DE82836-3F4D-C4E3-4ABD-D3A1255CB8B9}"/>
                </a:ext>
              </a:extLst>
            </p:cNvPr>
            <p:cNvGrpSpPr/>
            <p:nvPr/>
          </p:nvGrpSpPr>
          <p:grpSpPr>
            <a:xfrm>
              <a:off x="357884" y="3795737"/>
              <a:ext cx="11638192" cy="1800742"/>
              <a:chOff x="333754" y="3795737"/>
              <a:chExt cx="11638192" cy="1800742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F5E252C4-8055-E58A-246B-21928219B2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776" y="4725149"/>
                <a:ext cx="10058400" cy="0"/>
              </a:xfrm>
              <a:prstGeom prst="straightConnector1">
                <a:avLst/>
              </a:prstGeom>
              <a:ln w="76200"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9000DDD2-72FF-8CC8-5AA9-4FE5B2CAE6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5446" y="4387219"/>
                <a:ext cx="0" cy="33793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C017E7F-C04D-A623-B519-D1D733C756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8466" y="4692019"/>
                <a:ext cx="0" cy="33793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CD4EC39A-2445-1501-40C9-68B2E8A531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31486" y="4387219"/>
                <a:ext cx="0" cy="33793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A5C65215-64DB-9C03-51FE-40B1FCF83E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94506" y="4692019"/>
                <a:ext cx="0" cy="33793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613858E-B094-2BCF-2A44-AE9AF62E669B}"/>
                  </a:ext>
                </a:extLst>
              </p:cNvPr>
              <p:cNvSpPr txBox="1"/>
              <p:nvPr/>
            </p:nvSpPr>
            <p:spPr>
              <a:xfrm>
                <a:off x="333754" y="3795737"/>
                <a:ext cx="3749040" cy="45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Nominal: treatment groups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7548C5D-5F94-749D-A1FD-190ECE27CEBB}"/>
                  </a:ext>
                </a:extLst>
              </p:cNvPr>
              <p:cNvSpPr txBox="1"/>
              <p:nvPr/>
            </p:nvSpPr>
            <p:spPr>
              <a:xfrm>
                <a:off x="7217066" y="5139279"/>
                <a:ext cx="4754880" cy="45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Continuous: decimals (e.g., temp.)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5472E78-17E8-911E-C4DD-06266E91105F}"/>
                  </a:ext>
                </a:extLst>
              </p:cNvPr>
              <p:cNvSpPr txBox="1"/>
              <p:nvPr/>
            </p:nvSpPr>
            <p:spPr>
              <a:xfrm>
                <a:off x="6034206" y="3795737"/>
                <a:ext cx="2194560" cy="45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Integer: counts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205F533-FCA2-172F-487F-A38E921ABC47}"/>
                  </a:ext>
                </a:extLst>
              </p:cNvPr>
              <p:cNvSpPr txBox="1"/>
              <p:nvPr/>
            </p:nvSpPr>
            <p:spPr>
              <a:xfrm>
                <a:off x="2785481" y="5134016"/>
                <a:ext cx="3749040" cy="45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Ordinal: high, medium, low</a:t>
                </a: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F16519F-8B51-A96D-55B0-C5A767D63C1D}"/>
                </a:ext>
              </a:extLst>
            </p:cNvPr>
            <p:cNvSpPr txBox="1"/>
            <p:nvPr/>
          </p:nvSpPr>
          <p:spPr>
            <a:xfrm>
              <a:off x="1120659" y="4769914"/>
              <a:ext cx="1737360" cy="365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Low complexity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561C4E-E2ED-DC77-24FE-B952EFDBBEE3}"/>
                </a:ext>
              </a:extLst>
            </p:cNvPr>
            <p:cNvSpPr txBox="1"/>
            <p:nvPr/>
          </p:nvSpPr>
          <p:spPr>
            <a:xfrm>
              <a:off x="8882741" y="4303541"/>
              <a:ext cx="1828800" cy="365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High complexity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9296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16</a:t>
            </a:fld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D3130857-9233-4B96-4AEC-0B8EF4EF1130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30175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Types of Data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47C586-B90F-3B24-66CB-D01BF7983F6F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237744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28102"/>
            <a:ext cx="11302113" cy="1794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How does the type of data relate to your hypothesis?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… your analysis?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… your interpretation/visualization of your data?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E0EDC8B-6368-3D22-A581-F44D6BE339DF}"/>
              </a:ext>
            </a:extLst>
          </p:cNvPr>
          <p:cNvGrpSpPr/>
          <p:nvPr/>
        </p:nvGrpSpPr>
        <p:grpSpPr>
          <a:xfrm>
            <a:off x="276904" y="3795737"/>
            <a:ext cx="11638192" cy="1800742"/>
            <a:chOff x="357884" y="3795737"/>
            <a:chExt cx="11638192" cy="180074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DE82836-3F4D-C4E3-4ABD-D3A1255CB8B9}"/>
                </a:ext>
              </a:extLst>
            </p:cNvPr>
            <p:cNvGrpSpPr/>
            <p:nvPr/>
          </p:nvGrpSpPr>
          <p:grpSpPr>
            <a:xfrm>
              <a:off x="357884" y="3795737"/>
              <a:ext cx="11638192" cy="1800742"/>
              <a:chOff x="333754" y="3795737"/>
              <a:chExt cx="11638192" cy="1800742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F5E252C4-8055-E58A-246B-21928219B2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776" y="4725149"/>
                <a:ext cx="10058400" cy="0"/>
              </a:xfrm>
              <a:prstGeom prst="straightConnector1">
                <a:avLst/>
              </a:prstGeom>
              <a:ln w="76200"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9000DDD2-72FF-8CC8-5AA9-4FE5B2CAE6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5446" y="4387219"/>
                <a:ext cx="0" cy="33793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C017E7F-C04D-A623-B519-D1D733C756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8466" y="4692019"/>
                <a:ext cx="0" cy="33793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CD4EC39A-2445-1501-40C9-68B2E8A531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31486" y="4387219"/>
                <a:ext cx="0" cy="33793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A5C65215-64DB-9C03-51FE-40B1FCF83E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94506" y="4692019"/>
                <a:ext cx="0" cy="33793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613858E-B094-2BCF-2A44-AE9AF62E669B}"/>
                  </a:ext>
                </a:extLst>
              </p:cNvPr>
              <p:cNvSpPr txBox="1"/>
              <p:nvPr/>
            </p:nvSpPr>
            <p:spPr>
              <a:xfrm>
                <a:off x="333754" y="3795737"/>
                <a:ext cx="3749040" cy="45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Nominal: treatment groups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7548C5D-5F94-749D-A1FD-190ECE27CEBB}"/>
                  </a:ext>
                </a:extLst>
              </p:cNvPr>
              <p:cNvSpPr txBox="1"/>
              <p:nvPr/>
            </p:nvSpPr>
            <p:spPr>
              <a:xfrm>
                <a:off x="7217066" y="5139279"/>
                <a:ext cx="4754880" cy="45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Continuous: decimals (e.g., temp.)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5472E78-17E8-911E-C4DD-06266E91105F}"/>
                  </a:ext>
                </a:extLst>
              </p:cNvPr>
              <p:cNvSpPr txBox="1"/>
              <p:nvPr/>
            </p:nvSpPr>
            <p:spPr>
              <a:xfrm>
                <a:off x="6034206" y="3795737"/>
                <a:ext cx="2194560" cy="45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Integer: counts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205F533-FCA2-172F-487F-A38E921ABC47}"/>
                  </a:ext>
                </a:extLst>
              </p:cNvPr>
              <p:cNvSpPr txBox="1"/>
              <p:nvPr/>
            </p:nvSpPr>
            <p:spPr>
              <a:xfrm>
                <a:off x="2785481" y="5134016"/>
                <a:ext cx="3749040" cy="45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Ordinal: high, medium, low</a:t>
                </a: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F16519F-8B51-A96D-55B0-C5A767D63C1D}"/>
                </a:ext>
              </a:extLst>
            </p:cNvPr>
            <p:cNvSpPr txBox="1"/>
            <p:nvPr/>
          </p:nvSpPr>
          <p:spPr>
            <a:xfrm>
              <a:off x="1120659" y="4769914"/>
              <a:ext cx="1737360" cy="365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Low complexity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561C4E-E2ED-DC77-24FE-B952EFDBBEE3}"/>
                </a:ext>
              </a:extLst>
            </p:cNvPr>
            <p:cNvSpPr txBox="1"/>
            <p:nvPr/>
          </p:nvSpPr>
          <p:spPr>
            <a:xfrm>
              <a:off x="8882741" y="4303541"/>
              <a:ext cx="1828800" cy="365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High complexity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5289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17</a:t>
            </a:fld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D3130857-9233-4B96-4AEC-0B8EF4EF1130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30175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Types of Data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47C586-B90F-3B24-66CB-D01BF7983F6F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237744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28102"/>
            <a:ext cx="11302113" cy="23486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Hypothesis influenced by type of independent (X) variable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Comparison among treatment group means?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Directional change in response from low to medium to high?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Relationship between integer/continuous and response variables?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E0EDC8B-6368-3D22-A581-F44D6BE339DF}"/>
              </a:ext>
            </a:extLst>
          </p:cNvPr>
          <p:cNvGrpSpPr/>
          <p:nvPr/>
        </p:nvGrpSpPr>
        <p:grpSpPr>
          <a:xfrm>
            <a:off x="276904" y="3795737"/>
            <a:ext cx="11638192" cy="1800742"/>
            <a:chOff x="357884" y="3795737"/>
            <a:chExt cx="11638192" cy="180074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DE82836-3F4D-C4E3-4ABD-D3A1255CB8B9}"/>
                </a:ext>
              </a:extLst>
            </p:cNvPr>
            <p:cNvGrpSpPr/>
            <p:nvPr/>
          </p:nvGrpSpPr>
          <p:grpSpPr>
            <a:xfrm>
              <a:off x="357884" y="3795737"/>
              <a:ext cx="11638192" cy="1800742"/>
              <a:chOff x="333754" y="3795737"/>
              <a:chExt cx="11638192" cy="1800742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F5E252C4-8055-E58A-246B-21928219B2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776" y="4725149"/>
                <a:ext cx="10058400" cy="0"/>
              </a:xfrm>
              <a:prstGeom prst="straightConnector1">
                <a:avLst/>
              </a:prstGeom>
              <a:ln w="76200"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9000DDD2-72FF-8CC8-5AA9-4FE5B2CAE6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5446" y="4387219"/>
                <a:ext cx="0" cy="33793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C017E7F-C04D-A623-B519-D1D733C756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8466" y="4692019"/>
                <a:ext cx="0" cy="33793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CD4EC39A-2445-1501-40C9-68B2E8A531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31486" y="4387219"/>
                <a:ext cx="0" cy="33793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A5C65215-64DB-9C03-51FE-40B1FCF83E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94506" y="4692019"/>
                <a:ext cx="0" cy="33793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613858E-B094-2BCF-2A44-AE9AF62E669B}"/>
                  </a:ext>
                </a:extLst>
              </p:cNvPr>
              <p:cNvSpPr txBox="1"/>
              <p:nvPr/>
            </p:nvSpPr>
            <p:spPr>
              <a:xfrm>
                <a:off x="333754" y="3795737"/>
                <a:ext cx="3749040" cy="45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Nominal: treatment groups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7548C5D-5F94-749D-A1FD-190ECE27CEBB}"/>
                  </a:ext>
                </a:extLst>
              </p:cNvPr>
              <p:cNvSpPr txBox="1"/>
              <p:nvPr/>
            </p:nvSpPr>
            <p:spPr>
              <a:xfrm>
                <a:off x="7217066" y="5139279"/>
                <a:ext cx="4754880" cy="45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Continuous: decimals (e.g., temp.)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5472E78-17E8-911E-C4DD-06266E91105F}"/>
                  </a:ext>
                </a:extLst>
              </p:cNvPr>
              <p:cNvSpPr txBox="1"/>
              <p:nvPr/>
            </p:nvSpPr>
            <p:spPr>
              <a:xfrm>
                <a:off x="6034206" y="3795737"/>
                <a:ext cx="2194560" cy="45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Integer: counts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205F533-FCA2-172F-487F-A38E921ABC47}"/>
                  </a:ext>
                </a:extLst>
              </p:cNvPr>
              <p:cNvSpPr txBox="1"/>
              <p:nvPr/>
            </p:nvSpPr>
            <p:spPr>
              <a:xfrm>
                <a:off x="2785481" y="5134016"/>
                <a:ext cx="3749040" cy="45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Ordinal: high, medium, low</a:t>
                </a: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F16519F-8B51-A96D-55B0-C5A767D63C1D}"/>
                </a:ext>
              </a:extLst>
            </p:cNvPr>
            <p:cNvSpPr txBox="1"/>
            <p:nvPr/>
          </p:nvSpPr>
          <p:spPr>
            <a:xfrm>
              <a:off x="1120659" y="4769914"/>
              <a:ext cx="1737360" cy="365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Low complexity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561C4E-E2ED-DC77-24FE-B952EFDBBEE3}"/>
                </a:ext>
              </a:extLst>
            </p:cNvPr>
            <p:cNvSpPr txBox="1"/>
            <p:nvPr/>
          </p:nvSpPr>
          <p:spPr>
            <a:xfrm>
              <a:off x="8882741" y="4303541"/>
              <a:ext cx="1828800" cy="365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High complexity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1137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18</a:t>
            </a:fld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D3130857-9233-4B96-4AEC-0B8EF4EF1130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228600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Examples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47C586-B90F-3B24-66CB-D01BF7983F6F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164592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F577AFA7-AA31-BE31-7E34-668592128CDB}"/>
              </a:ext>
            </a:extLst>
          </p:cNvPr>
          <p:cNvSpPr txBox="1">
            <a:spLocks/>
          </p:cNvSpPr>
          <p:nvPr/>
        </p:nvSpPr>
        <p:spPr>
          <a:xfrm>
            <a:off x="291921" y="914143"/>
            <a:ext cx="3200400" cy="7074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Dr. Bartlet’s Lab</a:t>
            </a:r>
          </a:p>
        </p:txBody>
      </p:sp>
      <p:sp>
        <p:nvSpPr>
          <p:cNvPr id="32" name="Text Placeholder 1">
            <a:extLst>
              <a:ext uri="{FF2B5EF4-FFF2-40B4-BE49-F238E27FC236}">
                <a16:creationId xmlns:a16="http://schemas.microsoft.com/office/drawing/2014/main" id="{709E731E-1F0E-EF4A-1A41-82D82CA96338}"/>
              </a:ext>
            </a:extLst>
          </p:cNvPr>
          <p:cNvSpPr txBox="1">
            <a:spLocks/>
          </p:cNvSpPr>
          <p:nvPr/>
        </p:nvSpPr>
        <p:spPr>
          <a:xfrm>
            <a:off x="6096000" y="916324"/>
            <a:ext cx="3200400" cy="7074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Dr. Strand’s Lab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DD84C2-959E-AE23-A0BC-F7E14A9D9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821" y="1654185"/>
            <a:ext cx="5242518" cy="3664244"/>
          </a:xfrm>
          <a:prstGeom prst="rect">
            <a:avLst/>
          </a:prstGeom>
        </p:spPr>
      </p:pic>
      <p:pic>
        <p:nvPicPr>
          <p:cNvPr id="3" name="Content Placeholder 7" descr="Chart, bar chart&#10;&#10;Description automatically generated">
            <a:extLst>
              <a:ext uri="{FF2B5EF4-FFF2-40B4-BE49-F238E27FC236}">
                <a16:creationId xmlns:a16="http://schemas.microsoft.com/office/drawing/2014/main" id="{F797B02A-11E5-45A0-9C77-38977F69DF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649734"/>
            <a:ext cx="5537874" cy="352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38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19</a:t>
            </a:fld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D3130857-9233-4B96-4AEC-0B8EF4EF1130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228600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Examples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47C586-B90F-3B24-66CB-D01BF7983F6F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164592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F577AFA7-AA31-BE31-7E34-668592128CDB}"/>
              </a:ext>
            </a:extLst>
          </p:cNvPr>
          <p:cNvSpPr txBox="1">
            <a:spLocks/>
          </p:cNvSpPr>
          <p:nvPr/>
        </p:nvSpPr>
        <p:spPr>
          <a:xfrm>
            <a:off x="291921" y="914143"/>
            <a:ext cx="3200400" cy="7074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Dr. Schmidt’s Lab</a:t>
            </a:r>
          </a:p>
        </p:txBody>
      </p:sp>
      <p:sp>
        <p:nvSpPr>
          <p:cNvPr id="32" name="Text Placeholder 1">
            <a:extLst>
              <a:ext uri="{FF2B5EF4-FFF2-40B4-BE49-F238E27FC236}">
                <a16:creationId xmlns:a16="http://schemas.microsoft.com/office/drawing/2014/main" id="{709E731E-1F0E-EF4A-1A41-82D82CA96338}"/>
              </a:ext>
            </a:extLst>
          </p:cNvPr>
          <p:cNvSpPr txBox="1">
            <a:spLocks/>
          </p:cNvSpPr>
          <p:nvPr/>
        </p:nvSpPr>
        <p:spPr>
          <a:xfrm>
            <a:off x="6096000" y="916324"/>
            <a:ext cx="3200400" cy="7074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Dr. Hinkle’s Lab</a:t>
            </a:r>
          </a:p>
        </p:txBody>
      </p:sp>
      <p:pic>
        <p:nvPicPr>
          <p:cNvPr id="2" name="Content Placeholder 7" descr="Chart&#10;&#10;Description automatically generated">
            <a:extLst>
              <a:ext uri="{FF2B5EF4-FFF2-40B4-BE49-F238E27FC236}">
                <a16:creationId xmlns:a16="http://schemas.microsoft.com/office/drawing/2014/main" id="{BCF8932A-DE68-524E-1421-655497C6B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85" y="1555488"/>
            <a:ext cx="5387361" cy="42752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6C27D0C-E131-0395-FDDD-9A4BE52F0B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765" y="1933625"/>
            <a:ext cx="5142281" cy="381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572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20</a:t>
            </a:fld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D3130857-9233-4B96-4AEC-0B8EF4EF1130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228600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Examples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47C586-B90F-3B24-66CB-D01BF7983F6F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164592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F577AFA7-AA31-BE31-7E34-668592128CDB}"/>
              </a:ext>
            </a:extLst>
          </p:cNvPr>
          <p:cNvSpPr txBox="1">
            <a:spLocks/>
          </p:cNvSpPr>
          <p:nvPr/>
        </p:nvSpPr>
        <p:spPr>
          <a:xfrm>
            <a:off x="291921" y="914143"/>
            <a:ext cx="3200400" cy="7074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Dr. Schoeller’s Lab</a:t>
            </a:r>
          </a:p>
        </p:txBody>
      </p:sp>
      <p:sp>
        <p:nvSpPr>
          <p:cNvPr id="32" name="Text Placeholder 1">
            <a:extLst>
              <a:ext uri="{FF2B5EF4-FFF2-40B4-BE49-F238E27FC236}">
                <a16:creationId xmlns:a16="http://schemas.microsoft.com/office/drawing/2014/main" id="{709E731E-1F0E-EF4A-1A41-82D82CA96338}"/>
              </a:ext>
            </a:extLst>
          </p:cNvPr>
          <p:cNvSpPr txBox="1">
            <a:spLocks/>
          </p:cNvSpPr>
          <p:nvPr/>
        </p:nvSpPr>
        <p:spPr>
          <a:xfrm>
            <a:off x="6096000" y="916324"/>
            <a:ext cx="3200400" cy="7074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Dr. </a:t>
            </a:r>
            <a:r>
              <a:rPr lang="en-US" sz="2400">
                <a:cs typeface="Arial" panose="020B0604020202020204" pitchFamily="34" charset="0"/>
              </a:rPr>
              <a:t>Vogel’s Lab</a:t>
            </a:r>
            <a:endParaRPr lang="en-US" sz="2400" dirty="0"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58FC6C-B54D-CE25-CB78-17049AC48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551" y="1935103"/>
            <a:ext cx="5296162" cy="281977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43C8EA7-8553-0038-A8E2-92B89449AB1C}"/>
              </a:ext>
            </a:extLst>
          </p:cNvPr>
          <p:cNvSpPr/>
          <p:nvPr/>
        </p:nvSpPr>
        <p:spPr>
          <a:xfrm>
            <a:off x="5597434" y="1935103"/>
            <a:ext cx="225279" cy="239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4F56D5-CEB9-3546-4B74-6037DDF3E1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9289" y="1621576"/>
            <a:ext cx="5480189" cy="287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179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21</a:t>
            </a:fld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D3130857-9233-4B96-4AEC-0B8EF4EF1130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594360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Complex Data Visualization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47C586-B90F-3B24-66CB-D01BF7983F6F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530352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C180125E-A8DD-F76D-9FBF-1ECF07163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883" y="973344"/>
            <a:ext cx="7471293" cy="516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705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22</a:t>
            </a:fld>
            <a:endParaRPr lang="en-US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49044"/>
            <a:ext cx="11064240" cy="24799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Need to first download R software from CRAN website</a:t>
            </a:r>
          </a:p>
          <a:p>
            <a:pPr marL="982980" lvl="2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Comprehensive R Archive Network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Then download RStudio software from Posit website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Open RStudio and follow along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21B146-72BB-812C-13C3-5F3EE0E56D04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512064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Downloading R/RStudio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820705-7235-AB13-4E27-B15855846F06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448056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444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23</a:t>
            </a:fld>
            <a:endParaRPr lang="en-US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34414"/>
            <a:ext cx="11064240" cy="8079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Start by creating a project – new or existing directory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21B146-72BB-812C-13C3-5F3EE0E56D04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43891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Basics of  R/RStudio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820705-7235-AB13-4E27-B15855846F06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374904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46347AD-50E1-42B4-8122-1663A99A1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679" y="1844326"/>
            <a:ext cx="7772400" cy="44751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DDCA29-FA1E-66B6-AE4B-484AD8377FB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1112" b="73453"/>
          <a:stretch/>
        </p:blipFill>
        <p:spPr>
          <a:xfrm>
            <a:off x="603969" y="2042969"/>
            <a:ext cx="3391555" cy="179453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BA0FA3-411B-B740-FB51-5C99C8EC727F}"/>
              </a:ext>
            </a:extLst>
          </p:cNvPr>
          <p:cNvCxnSpPr>
            <a:cxnSpLocks/>
          </p:cNvCxnSpPr>
          <p:nvPr/>
        </p:nvCxnSpPr>
        <p:spPr>
          <a:xfrm flipV="1">
            <a:off x="702259" y="2474077"/>
            <a:ext cx="336499" cy="201014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9E9ABC4-D471-9E11-2A96-0DD1C634D654}"/>
              </a:ext>
            </a:extLst>
          </p:cNvPr>
          <p:cNvCxnSpPr>
            <a:cxnSpLocks/>
          </p:cNvCxnSpPr>
          <p:nvPr/>
        </p:nvCxnSpPr>
        <p:spPr>
          <a:xfrm>
            <a:off x="7388352" y="1543507"/>
            <a:ext cx="3211994" cy="263347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3153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24</a:t>
            </a:fld>
            <a:endParaRPr lang="en-US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34414"/>
            <a:ext cx="11064240" cy="13771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Files tab – navigating folders and working directory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Relative path name – </a:t>
            </a:r>
            <a:r>
              <a:rPr lang="en-US" sz="2400" i="1" dirty="0">
                <a:cs typeface="Arial" panose="020B0604020202020204" pitchFamily="34" charset="0"/>
              </a:rPr>
              <a:t>here</a:t>
            </a:r>
            <a:r>
              <a:rPr lang="en-US" sz="2400" dirty="0">
                <a:cs typeface="Arial" panose="020B0604020202020204" pitchFamily="34" charset="0"/>
              </a:rPr>
              <a:t>() function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21B146-72BB-812C-13C3-5F3EE0E56D04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43891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Basics of  R/RStudio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820705-7235-AB13-4E27-B15855846F06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374904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46347AD-50E1-42B4-8122-1663A99A1E9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5000"/>
          </a:blip>
          <a:srcRect t="6845"/>
          <a:stretch/>
        </p:blipFill>
        <p:spPr>
          <a:xfrm>
            <a:off x="4127679" y="2150670"/>
            <a:ext cx="7772400" cy="41688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20968C-084C-031D-4E5F-B5F941D4F10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9105" t="46703"/>
          <a:stretch/>
        </p:blipFill>
        <p:spPr>
          <a:xfrm>
            <a:off x="7944307" y="3942893"/>
            <a:ext cx="3955772" cy="238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181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25</a:t>
            </a:fld>
            <a:endParaRPr lang="en-US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34414"/>
            <a:ext cx="11064240" cy="13771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Plots tab – display plots with limited function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Other functions to save images for publications/presentations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21B146-72BB-812C-13C3-5F3EE0E56D04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43891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Basics of  R/RStudio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820705-7235-AB13-4E27-B15855846F06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374904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46347AD-50E1-42B4-8122-1663A99A1E9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5000"/>
          </a:blip>
          <a:srcRect t="6845"/>
          <a:stretch/>
        </p:blipFill>
        <p:spPr>
          <a:xfrm>
            <a:off x="4127679" y="2150670"/>
            <a:ext cx="7772400" cy="41688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55055E-A616-04DF-D27C-B1757C30B0E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9105" t="46130"/>
          <a:stretch/>
        </p:blipFill>
        <p:spPr>
          <a:xfrm>
            <a:off x="7944307" y="3891686"/>
            <a:ext cx="3955772" cy="241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178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26</a:t>
            </a:fld>
            <a:endParaRPr lang="en-US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41729"/>
            <a:ext cx="11064240" cy="19258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Packages tab – list of packages already installed locally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Install vs. loading packages here or in script/console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Check version!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21B146-72BB-812C-13C3-5F3EE0E56D04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43891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Basics of  R/RStudio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820705-7235-AB13-4E27-B15855846F06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374904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46347AD-50E1-42B4-8122-1663A99A1E9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5000"/>
          </a:blip>
          <a:srcRect t="6845"/>
          <a:stretch/>
        </p:blipFill>
        <p:spPr>
          <a:xfrm>
            <a:off x="4127679" y="2150670"/>
            <a:ext cx="7772400" cy="41688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B475BF-4F6D-D95A-8048-C7131D62616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9011" t="45966"/>
          <a:stretch/>
        </p:blipFill>
        <p:spPr>
          <a:xfrm>
            <a:off x="7936991" y="3884370"/>
            <a:ext cx="3963087" cy="241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6604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27</a:t>
            </a:fld>
            <a:endParaRPr lang="en-US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34414"/>
            <a:ext cx="11064240" cy="13771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Help tab – instructions on how to use packages/functions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Can type “?” before a package name or function in console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21B146-72BB-812C-13C3-5F3EE0E56D04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43891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Basics of  R/RStudio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820705-7235-AB13-4E27-B15855846F06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374904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46347AD-50E1-42B4-8122-1663A99A1E9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5000"/>
          </a:blip>
          <a:srcRect t="6845"/>
          <a:stretch/>
        </p:blipFill>
        <p:spPr>
          <a:xfrm>
            <a:off x="4127679" y="2150670"/>
            <a:ext cx="7772400" cy="41688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4128B8-792F-505B-C548-6B9FA497D74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811" t="45849"/>
          <a:stretch/>
        </p:blipFill>
        <p:spPr>
          <a:xfrm>
            <a:off x="7921487" y="3896138"/>
            <a:ext cx="3978592" cy="242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47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28</a:t>
            </a:fld>
            <a:endParaRPr lang="en-US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34414"/>
            <a:ext cx="11064240" cy="13771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Console tab – where you see output from code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Can run code directly in console – won’t save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21B146-72BB-812C-13C3-5F3EE0E56D04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43891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Basics of  R/RStudio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820705-7235-AB13-4E27-B15855846F06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374904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46347AD-50E1-42B4-8122-1663A99A1E9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5000"/>
          </a:blip>
          <a:srcRect t="6845"/>
          <a:stretch/>
        </p:blipFill>
        <p:spPr>
          <a:xfrm>
            <a:off x="4127679" y="2150670"/>
            <a:ext cx="7772400" cy="41688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4128B8-792F-505B-C548-6B9FA497D74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1" t="45849" r="51195"/>
          <a:stretch/>
        </p:blipFill>
        <p:spPr>
          <a:xfrm>
            <a:off x="4127679" y="3896138"/>
            <a:ext cx="3793291" cy="24233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17010C-1E1F-D6F0-66B9-D0D984E4A0B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81426" r="79910"/>
          <a:stretch/>
        </p:blipFill>
        <p:spPr>
          <a:xfrm>
            <a:off x="1060766" y="4660088"/>
            <a:ext cx="2587120" cy="137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980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29</a:t>
            </a:fld>
            <a:endParaRPr lang="en-US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34414"/>
            <a:ext cx="11064240" cy="13771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Script tab – script and other document types are opened here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Code is typed here to be saved for future use - reproducible science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21B146-72BB-812C-13C3-5F3EE0E56D04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43891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Basics of  R/RStudio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820705-7235-AB13-4E27-B15855846F06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374904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46347AD-50E1-42B4-8122-1663A99A1E9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5000"/>
          </a:blip>
          <a:srcRect t="6845"/>
          <a:stretch/>
        </p:blipFill>
        <p:spPr>
          <a:xfrm>
            <a:off x="4127679" y="2150670"/>
            <a:ext cx="7772400" cy="41688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C93D6B-6C48-3A6F-4CE6-6A6B2D30977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259" r="50451" b="53445"/>
          <a:stretch/>
        </p:blipFill>
        <p:spPr>
          <a:xfrm>
            <a:off x="4127679" y="2150670"/>
            <a:ext cx="3851150" cy="17585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53F11F-2EF2-CE70-A33E-D8DAAE8BE5D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81426" r="79910"/>
          <a:stretch/>
        </p:blipFill>
        <p:spPr>
          <a:xfrm>
            <a:off x="1060766" y="4660088"/>
            <a:ext cx="2587120" cy="1377188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D9CD3DC-D13F-7EE1-BE58-983CEFB1E9BD}"/>
              </a:ext>
            </a:extLst>
          </p:cNvPr>
          <p:cNvCxnSpPr>
            <a:cxnSpLocks/>
          </p:cNvCxnSpPr>
          <p:nvPr/>
        </p:nvCxnSpPr>
        <p:spPr>
          <a:xfrm flipH="1">
            <a:off x="1419149" y="2582266"/>
            <a:ext cx="3043123" cy="277977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42346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30</a:t>
            </a:fld>
            <a:endParaRPr lang="en-US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34414"/>
            <a:ext cx="11064240" cy="13771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Quality of life adjustments – Tools – Global Options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Change the following options – if you like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21B146-72BB-812C-13C3-5F3EE0E56D04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43891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Basics of  R/RStudio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820705-7235-AB13-4E27-B15855846F06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374904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73FFDBB-64C0-F755-A47E-7F7BC10FF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846" y="1858486"/>
            <a:ext cx="4419799" cy="444398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50BA36-5871-7662-4EFB-C049CDFD3AC0}"/>
              </a:ext>
            </a:extLst>
          </p:cNvPr>
          <p:cNvCxnSpPr>
            <a:cxnSpLocks/>
          </p:cNvCxnSpPr>
          <p:nvPr/>
        </p:nvCxnSpPr>
        <p:spPr>
          <a:xfrm flipV="1">
            <a:off x="6693408" y="5332781"/>
            <a:ext cx="1506931" cy="109728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92795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31</a:t>
            </a:fld>
            <a:endParaRPr lang="en-US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34414"/>
            <a:ext cx="11064240" cy="13771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Quality of life adjustments – Tools – Global Options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Change the following options – if you like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21B146-72BB-812C-13C3-5F3EE0E56D04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43891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Basics of  R/RStudio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820705-7235-AB13-4E27-B15855846F06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374904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6CC189E-D129-7D0A-61DD-4E316F4ED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846" y="1858486"/>
            <a:ext cx="4419799" cy="444398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0C4C944-C6C1-1C93-E255-3795EA1D214D}"/>
              </a:ext>
            </a:extLst>
          </p:cNvPr>
          <p:cNvCxnSpPr>
            <a:cxnSpLocks/>
          </p:cNvCxnSpPr>
          <p:nvPr/>
        </p:nvCxnSpPr>
        <p:spPr>
          <a:xfrm>
            <a:off x="5969203" y="3635654"/>
            <a:ext cx="2048256" cy="36210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0799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32</a:t>
            </a:fld>
            <a:endParaRPr lang="en-US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934414"/>
            <a:ext cx="11064240" cy="13771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Quality of life adjustments – Tools – Global Options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Change the following options – if you like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21B146-72BB-812C-13C3-5F3EE0E56D04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43891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Basics of  R/RStudio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820705-7235-AB13-4E27-B15855846F06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374904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AC9C742-644A-671E-A35A-CEFC905EA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846" y="1986077"/>
            <a:ext cx="4419799" cy="444398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50BA36-5871-7662-4EFB-C049CDFD3AC0}"/>
              </a:ext>
            </a:extLst>
          </p:cNvPr>
          <p:cNvCxnSpPr>
            <a:cxnSpLocks/>
          </p:cNvCxnSpPr>
          <p:nvPr/>
        </p:nvCxnSpPr>
        <p:spPr>
          <a:xfrm flipV="1">
            <a:off x="5508346" y="2735885"/>
            <a:ext cx="2509113" cy="78272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3575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33</a:t>
            </a:fld>
            <a:endParaRPr lang="en-US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20F5980-EEA5-148D-1DE2-6DDBE1CA7467}"/>
              </a:ext>
            </a:extLst>
          </p:cNvPr>
          <p:cNvSpPr txBox="1">
            <a:spLocks/>
          </p:cNvSpPr>
          <p:nvPr/>
        </p:nvSpPr>
        <p:spPr>
          <a:xfrm>
            <a:off x="291921" y="1030109"/>
            <a:ext cx="11064240" cy="17662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GitHub account needed if you want to use Copilot code suggestions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Create account at </a:t>
            </a:r>
            <a:r>
              <a:rPr lang="en-US" sz="2400" dirty="0" err="1">
                <a:cs typeface="Arial" panose="020B0604020202020204" pitchFamily="34" charset="0"/>
              </a:rPr>
              <a:t>github.com</a:t>
            </a:r>
            <a:endParaRPr lang="en-US" sz="2400" dirty="0">
              <a:cs typeface="Arial" panose="020B0604020202020204" pitchFamily="34" charset="0"/>
            </a:endParaRP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Can apply for education benefits under billing and licensing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21B146-72BB-812C-13C3-5F3EE0E56D04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3742383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GitHub Accounts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820705-7235-AB13-4E27-B15855846F06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3149086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910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7F52C6-54F9-9040-80A8-FF022B6B8A78}"/>
              </a:ext>
            </a:extLst>
          </p:cNvPr>
          <p:cNvSpPr/>
          <p:nvPr/>
        </p:nvSpPr>
        <p:spPr>
          <a:xfrm>
            <a:off x="159766" y="150384"/>
            <a:ext cx="11872468" cy="6551271"/>
          </a:xfrm>
          <a:prstGeom prst="rect">
            <a:avLst/>
          </a:prstGeom>
          <a:noFill/>
          <a:ln w="25400">
            <a:solidFill>
              <a:srgbClr val="C2002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7BC34-022C-724B-7E4A-7F572A494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4" y="6304884"/>
            <a:ext cx="2662812" cy="30206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7FAF8-CD40-E849-AFAC-A76C47E8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746" y="6319500"/>
            <a:ext cx="2743200" cy="365125"/>
          </a:xfrm>
        </p:spPr>
        <p:txBody>
          <a:bodyPr/>
          <a:lstStyle/>
          <a:p>
            <a:fld id="{35D88863-7221-C04E-8B6E-88D4650A8ECE}" type="slidenum">
              <a:rPr lang="en-US" smtClean="0"/>
              <a:t>34</a:t>
            </a:fld>
            <a:endParaRPr lang="en-US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D3130857-9233-4B96-4AEC-0B8EF4EF1130}"/>
              </a:ext>
            </a:extLst>
          </p:cNvPr>
          <p:cNvSpPr txBox="1">
            <a:spLocks/>
          </p:cNvSpPr>
          <p:nvPr/>
        </p:nvSpPr>
        <p:spPr>
          <a:xfrm>
            <a:off x="159766" y="150384"/>
            <a:ext cx="173736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chemeClr val="tx1"/>
                </a:solidFill>
                <a:cs typeface="Arial" panose="020B0604020202020204" pitchFamily="34" charset="0"/>
              </a:rPr>
              <a:t>Review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847C586-B90F-3B24-66CB-D01BF7983F6F}"/>
              </a:ext>
            </a:extLst>
          </p:cNvPr>
          <p:cNvCxnSpPr>
            <a:cxnSpLocks/>
          </p:cNvCxnSpPr>
          <p:nvPr/>
        </p:nvCxnSpPr>
        <p:spPr>
          <a:xfrm>
            <a:off x="434086" y="885983"/>
            <a:ext cx="1005840" cy="0"/>
          </a:xfrm>
          <a:prstGeom prst="line">
            <a:avLst/>
          </a:prstGeom>
          <a:ln w="38100">
            <a:solidFill>
              <a:srgbClr val="C20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A2DBE8-9E0E-C8A5-C0D6-6E08C58369FD}"/>
              </a:ext>
            </a:extLst>
          </p:cNvPr>
          <p:cNvSpPr txBox="1">
            <a:spLocks/>
          </p:cNvSpPr>
          <p:nvPr/>
        </p:nvSpPr>
        <p:spPr>
          <a:xfrm>
            <a:off x="291921" y="1013160"/>
            <a:ext cx="11302113" cy="46220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Reviewed syllabus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Format of instruction lecture and discussion session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Course assignments and exams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“</a:t>
            </a:r>
            <a:r>
              <a:rPr lang="en-US" sz="2400" dirty="0" err="1">
                <a:cs typeface="Arial" panose="020B0604020202020204" pitchFamily="34" charset="0"/>
              </a:rPr>
              <a:t>Ungrading</a:t>
            </a:r>
            <a:r>
              <a:rPr lang="en-US" sz="2400" dirty="0">
                <a:cs typeface="Arial" panose="020B0604020202020204" pitchFamily="34" charset="0"/>
              </a:rPr>
              <a:t>” policy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Advanced topic selection – vote using link on </a:t>
            </a:r>
            <a:r>
              <a:rPr lang="en-US" sz="2400" dirty="0" err="1">
                <a:cs typeface="Arial" panose="020B0604020202020204" pitchFamily="34" charset="0"/>
              </a:rPr>
              <a:t>eLC</a:t>
            </a:r>
            <a:endParaRPr lang="en-US" sz="2400" dirty="0">
              <a:cs typeface="Arial" panose="020B0604020202020204" pitchFamily="34" charset="0"/>
            </a:endParaRP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Types of data and its impact on your hypotheses/analyses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Types of data visualizations based on your type of data</a:t>
            </a:r>
          </a:p>
          <a:p>
            <a:pPr marL="525780" lvl="1" indent="-342900" defTabSz="182880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Basics of R/</a:t>
            </a:r>
            <a:r>
              <a:rPr lang="en-US" sz="2400" dirty="0" err="1">
                <a:cs typeface="Arial" panose="020B0604020202020204" pitchFamily="34" charset="0"/>
              </a:rPr>
              <a:t>Rstudio</a:t>
            </a:r>
            <a:r>
              <a:rPr lang="en-US" sz="2400" dirty="0">
                <a:cs typeface="Arial" panose="020B0604020202020204" pitchFamily="34" charset="0"/>
              </a:rPr>
              <a:t> and GitHub Accounts</a:t>
            </a:r>
          </a:p>
        </p:txBody>
      </p:sp>
    </p:spTree>
    <p:extLst>
      <p:ext uri="{BB962C8B-B14F-4D97-AF65-F5344CB8AC3E}">
        <p14:creationId xmlns:p14="http://schemas.microsoft.com/office/powerpoint/2010/main" val="168142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1391</TotalTime>
  <Words>1308</Words>
  <Application>Microsoft Macintosh PowerPoint</Application>
  <PresentationFormat>Widescreen</PresentationFormat>
  <Paragraphs>281</Paragraphs>
  <Slides>34</Slides>
  <Notes>34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Conor Grant Fair</dc:creator>
  <cp:lastModifiedBy>Conor Grant Fair</cp:lastModifiedBy>
  <cp:revision>1</cp:revision>
  <dcterms:created xsi:type="dcterms:W3CDTF">2026-08-12T21:14:54Z</dcterms:created>
  <dcterms:modified xsi:type="dcterms:W3CDTF">2026-08-13T20:26:16Z</dcterms:modified>
</cp:coreProperties>
</file>